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6" r:id="rId4"/>
    <p:sldId id="276" r:id="rId5"/>
    <p:sldId id="277" r:id="rId6"/>
    <p:sldId id="283" r:id="rId7"/>
    <p:sldId id="284" r:id="rId8"/>
    <p:sldId id="278" r:id="rId9"/>
    <p:sldId id="280" r:id="rId10"/>
    <p:sldId id="282" r:id="rId11"/>
    <p:sldId id="27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90" autoAdjust="0"/>
    <p:restoredTop sz="86571" autoAdjust="0"/>
  </p:normalViewPr>
  <p:slideViewPr>
    <p:cSldViewPr snapToGrid="0">
      <p:cViewPr varScale="1">
        <p:scale>
          <a:sx n="93" d="100"/>
          <a:sy n="93" d="100"/>
        </p:scale>
        <p:origin x="17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9EFE4-7899-4C8C-B21F-F77BDD1DC94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83CCB-9B55-4F64-A92C-9D4EDD88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0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10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68C3-E9A9-A55F-F87C-78CE48E7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B1100-65F5-9F19-A20F-44A5DCAA8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25314-50BA-2F89-7233-68238E19A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CB400-6C09-CAD3-CF28-184BA329E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78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3EBD-8F0F-0A14-81B3-92332692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910E2-85E6-331B-C1A2-9436A9016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CB9E9-54DA-1756-D209-C19F7D2F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1E55E-60E4-8130-ED1E-B9696BDAF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14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97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1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E9D2-AFDA-CD3C-CB90-19DCCAE8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8BAF4-7E51-9C44-F2B0-08929C5A5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D0793-7697-86C8-F573-B69C5C26A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9CD62-D9F7-D2D8-13EA-E6844FE7A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05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Đôi khi chúng ta có thêm cả thành phố trong tỉnh, thành phố độc lập…..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83CCB-9B55-4F64-A92C-9D4EDD88F9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2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37BA-8355-4943-A61B-32E841DBA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90CBF-9816-40E5-A213-F6AADAD91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AF83-25F9-44BB-B91F-9A2A81B8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694B0-2009-47BB-8BBF-F12C019C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6EC6-F187-4F30-B899-F940FA4B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5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545D-8675-4E40-A328-EE91E2EC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19A0-4068-47A6-9F8E-52CFA419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5BEBF-19DE-447A-A13D-B01E3396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EE3E1-E6CA-4F03-B301-D96DE447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6CDEC-E420-4539-822D-FEF0A174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3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9187-1911-4003-A69C-81EEBD7B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B5E17-8AAC-44F7-9286-59F84901D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5E4A4-3F61-4B6D-8B01-BFB4C43A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066E5-5153-47EB-8046-FB6181B3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9578F-4050-43B8-871C-47AD5DC3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C18A-7A8C-4916-8C88-B6B6CA54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6A28-42A1-49BF-9901-DA2C97C40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9F4D1-9A0E-4416-AF16-DEF86E660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5FAD6-B721-430C-88E3-9CCA397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A4F7D-4C1A-423B-BE5B-A9BE8C78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540E2-7F1E-4401-8206-13A5DCE7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2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08BB-0A95-426A-809D-384F916C4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CDB2C-9320-4BA8-A398-17BADF11D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871E1-B591-4DFC-AA2B-7AFE9E92F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9C43A-9A7E-4972-A4B4-61EDF3ACD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9391C-49FB-4521-AE71-6169D570C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77C83-ABF3-408E-9941-FB160F0C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7FA60-151A-4AA4-AA6A-BF91996C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672CA-1466-42B7-81F7-E273E001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5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66FD-DD83-42D7-BB77-73B06F07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D6F2D-C260-44FF-B100-4D4FD023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53C2C-9FB5-446D-9F7A-EC3A7841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9DD8B-E1E4-4DC2-9B01-29B2DA65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6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EF256-36C3-41A7-B705-FA379F3B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73E04-DE1A-414E-9DA5-A5EF0542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667C3-A2E9-4246-A29A-D28BA3FF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1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23ED-B425-44FD-ABEC-6E2DAAAB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0331E-1F06-4811-BA63-F8641D8F4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DF27C-A13D-4880-8802-B21E8D467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55E05-CA64-4F42-B40F-5A2E26346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02228-B97D-4D3E-ABE3-320348A8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8A37A-909E-46FC-9028-36E54310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4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0096-690A-45D2-B0D6-84283FC8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4ACEC-D349-4598-80D5-65386514A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EBA43-3FB8-410F-A898-68B5B0DF9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010B4-97CE-4EA8-80A6-A6576BDC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BA75A-E7D3-4C54-A29A-CB5CC2A6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592B1-DDCA-4778-8F15-DEA96B73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5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E81A-66C9-484E-8864-72BDB959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D3D65-1A07-4A1B-B8A1-32225EB84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64A25-9A87-49CB-B589-DAF72195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16A01-B7FB-46C9-825B-2426F565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220C6-2948-4B27-AE25-590999A6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1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2975B-39C2-43B6-BAC0-3B7135FB1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5ABC5-2C34-4BE9-9306-CDB8FC72B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3C52-88ED-4E5D-B222-7824643E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94B33-88C2-43D4-9C28-40215F02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FF7A-787F-4C6A-A347-4C89924F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953B8-F3EC-48E7-B980-C0ECA351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AFCE0-39A4-4C9F-A67C-793B3F86B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AA301-7746-44BD-828E-126B47E10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4CDF2-F05B-4E2C-BAAF-3ED2C7CE0D2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5C5C5-D513-44B0-9AC1-AE689695B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0FBC-53AA-4BE9-8D37-8A7A944F8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316CC-06F6-4F3E-AD25-7584140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2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8E4B-D97D-4A25-A004-FE78B599F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0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/>
              <a:t>ADDRESS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360A6-800A-42C2-BFD4-A0A3C16DE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Trần</a:t>
            </a:r>
            <a:r>
              <a:rPr lang="en-US" sz="3200" dirty="0"/>
              <a:t> Tuấn Anh</a:t>
            </a:r>
          </a:p>
        </p:txBody>
      </p:sp>
    </p:spTree>
    <p:extLst>
      <p:ext uri="{BB962C8B-B14F-4D97-AF65-F5344CB8AC3E}">
        <p14:creationId xmlns:p14="http://schemas.microsoft.com/office/powerpoint/2010/main" val="36181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00" y="1780662"/>
            <a:ext cx="4614648" cy="1006926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1. PROBLEM DEFINITION: Address representation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FCE2ED-5155-BF54-DE98-A45E870E57A2}"/>
              </a:ext>
            </a:extLst>
          </p:cNvPr>
          <p:cNvSpPr txBox="1">
            <a:spLocks/>
          </p:cNvSpPr>
          <p:nvPr/>
        </p:nvSpPr>
        <p:spPr>
          <a:xfrm>
            <a:off x="4941491" y="471109"/>
            <a:ext cx="700356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sz="2000" b="1">
              <a:latin typeface="+mj-lt"/>
            </a:endParaRPr>
          </a:p>
        </p:txBody>
      </p:sp>
      <p:pic>
        <p:nvPicPr>
          <p:cNvPr id="1026" name="Picture 2" descr="Example: Entering Address Information with an HTML Form">
            <a:extLst>
              <a:ext uri="{FF2B5EF4-FFF2-40B4-BE49-F238E27FC236}">
                <a16:creationId xmlns:a16="http://schemas.microsoft.com/office/drawing/2014/main" id="{C8074D59-C176-4326-C27B-5240E6E18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915" y="113313"/>
            <a:ext cx="3413417" cy="293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You Should Use a Text Area for Address Form Fields">
            <a:extLst>
              <a:ext uri="{FF2B5EF4-FFF2-40B4-BE49-F238E27FC236}">
                <a16:creationId xmlns:a16="http://schemas.microsoft.com/office/drawing/2014/main" id="{B40FA3EC-4328-E4EF-2A38-6432A3D23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44" y="3053192"/>
            <a:ext cx="4080345" cy="287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nter image description here">
            <a:extLst>
              <a:ext uri="{FF2B5EF4-FFF2-40B4-BE49-F238E27FC236}">
                <a16:creationId xmlns:a16="http://schemas.microsoft.com/office/drawing/2014/main" id="{33E1CE3F-5DEE-6ADF-ED9D-66CA4394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605" y="3166505"/>
            <a:ext cx="3344036" cy="352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48D4F1-488C-DC86-4250-CCC24DBCE78E}"/>
              </a:ext>
            </a:extLst>
          </p:cNvPr>
          <p:cNvSpPr txBox="1"/>
          <p:nvPr/>
        </p:nvSpPr>
        <p:spPr>
          <a:xfrm>
            <a:off x="8877670" y="2894120"/>
            <a:ext cx="2574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Clarity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215456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0" y="1780660"/>
            <a:ext cx="4198443" cy="1219715"/>
          </a:xfrm>
        </p:spPr>
        <p:txBody>
          <a:bodyPr anchor="t">
            <a:normAutofit fontScale="90000"/>
          </a:bodyPr>
          <a:lstStyle/>
          <a:p>
            <a:r>
              <a:rPr lang="en-US" sz="2800">
                <a:solidFill>
                  <a:schemeClr val="bg1"/>
                </a:solidFill>
              </a:rPr>
              <a:t>1. PROBLEM DEFINITION: Human Reading and representation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050" name="Picture 2" descr="Ai còn dùng CMND khi đã có CCCD gắn chip, làm ngay việc này kẻo thiệt">
            <a:extLst>
              <a:ext uri="{FF2B5EF4-FFF2-40B4-BE49-F238E27FC236}">
                <a16:creationId xmlns:a16="http://schemas.microsoft.com/office/drawing/2014/main" id="{B57C230C-C6BB-2797-B2D3-E7E8EBBD0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54" y="277622"/>
            <a:ext cx="3239165" cy="207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C002B7-3393-3FFE-2375-AB1624E53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910" y="277622"/>
            <a:ext cx="3304486" cy="2073515"/>
          </a:xfrm>
          <a:prstGeom prst="rect">
            <a:avLst/>
          </a:prstGeom>
        </p:spPr>
      </p:pic>
      <p:pic>
        <p:nvPicPr>
          <p:cNvPr id="2054" name="Picture 6" descr="Bằng lái xe A1 là gì? Phân biệt bằng lái xe A1 và A2">
            <a:extLst>
              <a:ext uri="{FF2B5EF4-FFF2-40B4-BE49-F238E27FC236}">
                <a16:creationId xmlns:a16="http://schemas.microsoft.com/office/drawing/2014/main" id="{7F47CCC2-68AF-5813-64A1-0B045A12D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801" y="4636879"/>
            <a:ext cx="3239165" cy="19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ổ hộ khẩu công chứng có thời hạn bao lâu">
            <a:extLst>
              <a:ext uri="{FF2B5EF4-FFF2-40B4-BE49-F238E27FC236}">
                <a16:creationId xmlns:a16="http://schemas.microsoft.com/office/drawing/2014/main" id="{4D6C5AD4-BC93-2465-3965-E3C01295B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495" y="4559948"/>
            <a:ext cx="2974019" cy="209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586234-AE32-FD19-E598-F8DB20684488}"/>
              </a:ext>
            </a:extLst>
          </p:cNvPr>
          <p:cNvCxnSpPr>
            <a:cxnSpLocks/>
            <a:endCxn id="17" idx="1"/>
          </p:cNvCxnSpPr>
          <p:nvPr/>
        </p:nvCxnSpPr>
        <p:spPr>
          <a:xfrm flipH="1">
            <a:off x="6542104" y="2015231"/>
            <a:ext cx="89515" cy="12316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B566000-0309-A184-399D-50FF74BE8011}"/>
              </a:ext>
            </a:extLst>
          </p:cNvPr>
          <p:cNvSpPr/>
          <p:nvPr/>
        </p:nvSpPr>
        <p:spPr>
          <a:xfrm>
            <a:off x="5912909" y="3080551"/>
            <a:ext cx="4296411" cy="11360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READING &amp; UNDERSTANDING: confusing rules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E35702-D73B-CDCB-B87E-AECC1C2281F8}"/>
              </a:ext>
            </a:extLst>
          </p:cNvPr>
          <p:cNvCxnSpPr>
            <a:cxnSpLocks/>
            <a:endCxn id="17" idx="7"/>
          </p:cNvCxnSpPr>
          <p:nvPr/>
        </p:nvCxnSpPr>
        <p:spPr>
          <a:xfrm flipH="1">
            <a:off x="9580125" y="2133600"/>
            <a:ext cx="418061" cy="1113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4298BC-9B28-641F-D6E8-F51A5DFD67B3}"/>
              </a:ext>
            </a:extLst>
          </p:cNvPr>
          <p:cNvCxnSpPr>
            <a:cxnSpLocks/>
            <a:stCxn id="2054" idx="0"/>
            <a:endCxn id="17" idx="3"/>
          </p:cNvCxnSpPr>
          <p:nvPr/>
        </p:nvCxnSpPr>
        <p:spPr>
          <a:xfrm flipV="1">
            <a:off x="6241384" y="4050253"/>
            <a:ext cx="300720" cy="586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66F164-58F1-F4A6-2892-156F6CDEC9BF}"/>
              </a:ext>
            </a:extLst>
          </p:cNvPr>
          <p:cNvCxnSpPr>
            <a:cxnSpLocks/>
            <a:stCxn id="2058" idx="0"/>
            <a:endCxn id="17" idx="5"/>
          </p:cNvCxnSpPr>
          <p:nvPr/>
        </p:nvCxnSpPr>
        <p:spPr>
          <a:xfrm flipH="1" flipV="1">
            <a:off x="9580125" y="4050253"/>
            <a:ext cx="508380" cy="5096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3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0" y="1780660"/>
            <a:ext cx="4198443" cy="1219715"/>
          </a:xfrm>
        </p:spPr>
        <p:txBody>
          <a:bodyPr anchor="t">
            <a:normAutofit fontScale="90000"/>
          </a:bodyPr>
          <a:lstStyle/>
          <a:p>
            <a:r>
              <a:rPr lang="en-US" sz="2800">
                <a:solidFill>
                  <a:schemeClr val="bg1"/>
                </a:solidFill>
              </a:rPr>
              <a:t>1. PROBLEM DEFINITION: Human &amp; Machine Interaction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054" name="Picture 6" descr="Bằng lái xe A1 là gì? Phân biệt bằng lái xe A1 và A2">
            <a:extLst>
              <a:ext uri="{FF2B5EF4-FFF2-40B4-BE49-F238E27FC236}">
                <a16:creationId xmlns:a16="http://schemas.microsoft.com/office/drawing/2014/main" id="{7F47CCC2-68AF-5813-64A1-0B045A12D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706" y="264830"/>
            <a:ext cx="38417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4298BC-9B28-641F-D6E8-F51A5DFD67B3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flipH="1">
            <a:off x="8469676" y="1780660"/>
            <a:ext cx="1" cy="8861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4F258DB-83B7-E2AD-041B-0EEA8928A841}"/>
              </a:ext>
            </a:extLst>
          </p:cNvPr>
          <p:cNvSpPr/>
          <p:nvPr/>
        </p:nvSpPr>
        <p:spPr>
          <a:xfrm>
            <a:off x="7452453" y="1609725"/>
            <a:ext cx="2034447" cy="17093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A5BA80-CB94-9F5E-6B8F-206920403B0C}"/>
              </a:ext>
            </a:extLst>
          </p:cNvPr>
          <p:cNvSpPr/>
          <p:nvPr/>
        </p:nvSpPr>
        <p:spPr>
          <a:xfrm>
            <a:off x="7093313" y="2666796"/>
            <a:ext cx="2752725" cy="513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Detect address area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213345-C4E3-DF43-EEE0-D9FDAB38440C}"/>
              </a:ext>
            </a:extLst>
          </p:cNvPr>
          <p:cNvSpPr/>
          <p:nvPr/>
        </p:nvSpPr>
        <p:spPr>
          <a:xfrm>
            <a:off x="7093313" y="3472618"/>
            <a:ext cx="2752725" cy="513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OCR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F80E57-4313-B5BA-DC0F-C6EAE4D324F0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469676" y="3180118"/>
            <a:ext cx="0" cy="292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287817F-E5CF-532A-2A9B-06B1FBEF1994}"/>
              </a:ext>
            </a:extLst>
          </p:cNvPr>
          <p:cNvSpPr/>
          <p:nvPr/>
        </p:nvSpPr>
        <p:spPr>
          <a:xfrm>
            <a:off x="7093313" y="4190795"/>
            <a:ext cx="2752725" cy="513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Classify address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837569-BD21-80A6-C66E-88C4C2556AA0}"/>
              </a:ext>
            </a:extLst>
          </p:cNvPr>
          <p:cNvCxnSpPr>
            <a:cxnSpLocks/>
            <a:stCxn id="21" idx="2"/>
            <a:endCxn id="27" idx="0"/>
          </p:cNvCxnSpPr>
          <p:nvPr/>
        </p:nvCxnSpPr>
        <p:spPr>
          <a:xfrm>
            <a:off x="8469676" y="3985940"/>
            <a:ext cx="0" cy="2048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omputer Icons Thought, know how, silhouette, brain, thought png | PNGWing">
            <a:extLst>
              <a:ext uri="{FF2B5EF4-FFF2-40B4-BE49-F238E27FC236}">
                <a16:creationId xmlns:a16="http://schemas.microsoft.com/office/drawing/2014/main" id="{A1750C18-A64E-D421-61AA-F0F6C1795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52" y="3732217"/>
            <a:ext cx="2920518" cy="292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hought Bubble: Cloud 30">
            <a:extLst>
              <a:ext uri="{FF2B5EF4-FFF2-40B4-BE49-F238E27FC236}">
                <a16:creationId xmlns:a16="http://schemas.microsoft.com/office/drawing/2014/main" id="{A8FED282-8C78-6079-D955-6576DDBDCE81}"/>
              </a:ext>
            </a:extLst>
          </p:cNvPr>
          <p:cNvSpPr/>
          <p:nvPr/>
        </p:nvSpPr>
        <p:spPr>
          <a:xfrm>
            <a:off x="2842922" y="2409647"/>
            <a:ext cx="2588635" cy="1833441"/>
          </a:xfrm>
          <a:prstGeom prst="cloudCallout">
            <a:avLst>
              <a:gd name="adj1" fmla="val -32240"/>
              <a:gd name="adj2" fmla="val 6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 processes are correct?</a:t>
            </a:r>
          </a:p>
        </p:txBody>
      </p:sp>
    </p:spTree>
    <p:extLst>
      <p:ext uri="{BB962C8B-B14F-4D97-AF65-F5344CB8AC3E}">
        <p14:creationId xmlns:p14="http://schemas.microsoft.com/office/powerpoint/2010/main" val="243833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0" y="1780660"/>
            <a:ext cx="4198443" cy="1219715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1. PROBLEM DEFINITION: Input vs Output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054" name="Picture 6" descr="Bằng lái xe A1 là gì? Phân biệt bằng lái xe A1 và A2">
            <a:extLst>
              <a:ext uri="{FF2B5EF4-FFF2-40B4-BE49-F238E27FC236}">
                <a16:creationId xmlns:a16="http://schemas.microsoft.com/office/drawing/2014/main" id="{7F47CCC2-68AF-5813-64A1-0B045A12D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20" y="2971804"/>
            <a:ext cx="4500682" cy="270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A213345-C4E3-DF43-EEE0-D9FDAB38440C}"/>
              </a:ext>
            </a:extLst>
          </p:cNvPr>
          <p:cNvSpPr/>
          <p:nvPr/>
        </p:nvSpPr>
        <p:spPr>
          <a:xfrm>
            <a:off x="4944139" y="500818"/>
            <a:ext cx="6342986" cy="2032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OCR: </a:t>
            </a:r>
          </a:p>
          <a:p>
            <a:pPr algn="ctr"/>
            <a:r>
              <a:rPr lang="en-US"/>
              <a:t>X. Thuận Thành, H. Cần Giuộc, T. Long An</a:t>
            </a:r>
          </a:p>
          <a:p>
            <a:pPr algn="ctr"/>
            <a:r>
              <a:rPr lang="en-US"/>
              <a:t>Thuận Thanh, HCần Giuộc, Tlong An</a:t>
            </a:r>
          </a:p>
          <a:p>
            <a:pPr algn="ctr"/>
            <a:r>
              <a:rPr lang="en-US"/>
              <a:t>Thuận Thành, H Cần Giuộc T. Long An</a:t>
            </a:r>
          </a:p>
          <a:p>
            <a:pPr algn="ctr"/>
            <a:r>
              <a:rPr lang="en-US"/>
              <a:t>X Thuận Thành H. Cần Giuộc, Long An</a:t>
            </a:r>
          </a:p>
          <a:p>
            <a:pPr algn="ctr"/>
            <a:r>
              <a:rPr lang="en-US"/>
              <a:t>X ThuanThanh H. Can Giuoc, Long An</a:t>
            </a:r>
          </a:p>
          <a:p>
            <a:pPr algn="ctr"/>
            <a:r>
              <a:rPr lang="en-US"/>
              <a:t>………..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87817F-E5CF-532A-2A9B-06B1FBEF1994}"/>
              </a:ext>
            </a:extLst>
          </p:cNvPr>
          <p:cNvSpPr/>
          <p:nvPr/>
        </p:nvSpPr>
        <p:spPr>
          <a:xfrm>
            <a:off x="6683737" y="3834326"/>
            <a:ext cx="2752725" cy="1442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Address classification:</a:t>
            </a:r>
            <a:br>
              <a:rPr lang="en-US"/>
            </a:br>
            <a:r>
              <a:rPr lang="en-US"/>
              <a:t>Xã: Thuận Thành</a:t>
            </a:r>
            <a:br>
              <a:rPr lang="en-US"/>
            </a:br>
            <a:r>
              <a:rPr lang="en-US"/>
              <a:t>Huyện: Cần Giuộc</a:t>
            </a:r>
          </a:p>
          <a:p>
            <a:r>
              <a:rPr lang="en-US"/>
              <a:t>Tỉnh: Long An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8E4FBA8-7FA8-2BBF-CEBF-C52F76BECD19}"/>
              </a:ext>
            </a:extLst>
          </p:cNvPr>
          <p:cNvSpPr/>
          <p:nvPr/>
        </p:nvSpPr>
        <p:spPr>
          <a:xfrm>
            <a:off x="7093313" y="2562225"/>
            <a:ext cx="1933575" cy="11811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6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29CBE-6A3C-5409-49F6-443874FD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3329613-8831-4432-A62D-24A970EFC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Computer script on a screen">
            <a:extLst>
              <a:ext uri="{FF2B5EF4-FFF2-40B4-BE49-F238E27FC236}">
                <a16:creationId xmlns:a16="http://schemas.microsoft.com/office/drawing/2014/main" id="{79B40C22-956F-DC3A-A3C7-48069191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08" r="53580" b="-1"/>
          <a:stretch>
            <a:fillRect/>
          </a:stretch>
        </p:blipFill>
        <p:spPr>
          <a:xfrm>
            <a:off x="20" y="10"/>
            <a:ext cx="3350507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A4E0407-A637-4681-B905-C53E4216C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9744" y="685799"/>
            <a:ext cx="4232512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37C19-9123-4B54-3364-45EBA958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181" y="40117"/>
            <a:ext cx="7335958" cy="6055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1. PROBLEM DEFINITION: Input vs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A8B1A-B981-9C53-3958-92278A77A4CD}"/>
              </a:ext>
            </a:extLst>
          </p:cNvPr>
          <p:cNvSpPr txBox="1"/>
          <p:nvPr/>
        </p:nvSpPr>
        <p:spPr>
          <a:xfrm>
            <a:off x="3350526" y="768997"/>
            <a:ext cx="4861729" cy="50153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Input: 	Text string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	Database for correction (not formal)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595959"/>
                </a:solidFill>
              </a:rPr>
              <a:t>	List of </a:t>
            </a: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Street, 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595959"/>
                </a:solidFill>
              </a:rPr>
              <a:t>	List of </a:t>
            </a: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Ward,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595959"/>
                </a:solidFill>
              </a:rPr>
              <a:t>	List of Provinc</a:t>
            </a: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Output: 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	Street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595959"/>
                </a:solidFill>
              </a:rPr>
              <a:t>	Ward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400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sz="1400" dirty="0">
                <a:solidFill>
                  <a:srgbClr val="595959"/>
                </a:solidFill>
              </a:rPr>
              <a:t>Province</a:t>
            </a:r>
            <a:endParaRPr lang="en-US" sz="1400" kern="1200" dirty="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1000"/>
              </a:spcBef>
              <a:spcAft>
                <a:spcPts val="600"/>
              </a:spcAft>
            </a:pPr>
            <a:endParaRPr lang="en-US" sz="1400" kern="1200" dirty="0">
              <a:solidFill>
                <a:srgbClr val="595959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1D1D9-05DB-F24D-3EEE-309E16A1C531}"/>
              </a:ext>
            </a:extLst>
          </p:cNvPr>
          <p:cNvSpPr txBox="1"/>
          <p:nvPr/>
        </p:nvSpPr>
        <p:spPr>
          <a:xfrm>
            <a:off x="8395313" y="404264"/>
            <a:ext cx="3796687" cy="5744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Example 1: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Input: 268 Lý Thường Kiệt, </a:t>
            </a:r>
            <a:r>
              <a:rPr lang="en-US" sz="1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Diên</a:t>
            </a: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Hồng, TP. HCM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4000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Database</a:t>
            </a:r>
            <a:br>
              <a:rPr lang="en-US" sz="1100" dirty="0">
                <a:solidFill>
                  <a:schemeClr val="tx2"/>
                </a:solidFill>
              </a:rPr>
            </a:br>
            <a:r>
              <a:rPr lang="en-US" sz="1100" dirty="0">
                <a:solidFill>
                  <a:schemeClr val="tx2"/>
                </a:solidFill>
              </a:rPr>
              <a:t>	Street: Lý Thường Kiệt, </a:t>
            </a:r>
            <a:r>
              <a:rPr lang="en-US" sz="1100" dirty="0" err="1">
                <a:solidFill>
                  <a:schemeClr val="tx2"/>
                </a:solidFill>
              </a:rPr>
              <a:t>Sư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Vạn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Hạnh</a:t>
            </a:r>
            <a:r>
              <a:rPr lang="en-US" sz="1100" dirty="0">
                <a:solidFill>
                  <a:schemeClr val="tx2"/>
                </a:solidFill>
              </a:rPr>
              <a:t>, 3/2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400050" algn="l"/>
              </a:tabLst>
            </a:pP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sz="1100" dirty="0">
                <a:solidFill>
                  <a:schemeClr val="tx2"/>
                </a:solidFill>
              </a:rPr>
              <a:t>Ward: </a:t>
            </a:r>
            <a:r>
              <a:rPr lang="en-US" sz="1100" dirty="0" err="1">
                <a:solidFill>
                  <a:schemeClr val="tx2"/>
                </a:solidFill>
              </a:rPr>
              <a:t>Diên</a:t>
            </a:r>
            <a:r>
              <a:rPr lang="en-US" sz="1100" dirty="0">
                <a:solidFill>
                  <a:schemeClr val="tx2"/>
                </a:solidFill>
              </a:rPr>
              <a:t> Hồng, Hòa Hưng, Con </a:t>
            </a:r>
            <a:r>
              <a:rPr lang="en-US" sz="1100" dirty="0" err="1">
                <a:solidFill>
                  <a:schemeClr val="tx2"/>
                </a:solidFill>
              </a:rPr>
              <a:t>cò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bé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bé</a:t>
            </a:r>
            <a:endParaRPr lang="en-US" sz="11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400050" algn="l"/>
              </a:tabLst>
            </a:pP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	Province: TP. HCM, Hà Nội, </a:t>
            </a:r>
            <a:r>
              <a:rPr lang="en-US" sz="1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Vũng</a:t>
            </a: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Tàu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Output: 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514350" algn="l"/>
              </a:tabLst>
            </a:pP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sz="11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Street</a:t>
            </a: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: Lý Thường Kiệt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514350" algn="l"/>
              </a:tabLst>
            </a:pPr>
            <a:r>
              <a:rPr lang="en-US" sz="1100" b="1" dirty="0">
                <a:solidFill>
                  <a:schemeClr val="tx2"/>
                </a:solidFill>
              </a:rPr>
              <a:t>	Ward: </a:t>
            </a:r>
            <a:r>
              <a:rPr lang="en-US" sz="1100" dirty="0" err="1">
                <a:solidFill>
                  <a:schemeClr val="tx2"/>
                </a:solidFill>
              </a:rPr>
              <a:t>Diên</a:t>
            </a:r>
            <a:r>
              <a:rPr lang="en-US" sz="1100" dirty="0">
                <a:solidFill>
                  <a:schemeClr val="tx2"/>
                </a:solidFill>
              </a:rPr>
              <a:t> Hồng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5143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</a:t>
            </a:r>
            <a:r>
              <a:rPr lang="en-US" sz="1100" b="1" dirty="0">
                <a:solidFill>
                  <a:schemeClr val="tx2"/>
                </a:solidFill>
              </a:rPr>
              <a:t>Province</a:t>
            </a:r>
            <a:r>
              <a:rPr lang="en-US" sz="1100" dirty="0">
                <a:solidFill>
                  <a:schemeClr val="tx2"/>
                </a:solidFill>
              </a:rPr>
              <a:t>: TP. HCM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b="1" dirty="0">
                <a:solidFill>
                  <a:schemeClr val="tx2"/>
                </a:solidFill>
              </a:rPr>
              <a:t>Example 1: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dirty="0">
                <a:solidFill>
                  <a:schemeClr val="tx2"/>
                </a:solidFill>
              </a:rPr>
              <a:t>Input: 268 Lý Thường Kiệt, </a:t>
            </a:r>
            <a:r>
              <a:rPr lang="en-US" sz="1100" dirty="0" err="1">
                <a:solidFill>
                  <a:schemeClr val="tx2"/>
                </a:solidFill>
              </a:rPr>
              <a:t>Diên</a:t>
            </a:r>
            <a:r>
              <a:rPr lang="en-US" sz="1100" dirty="0">
                <a:solidFill>
                  <a:schemeClr val="tx2"/>
                </a:solidFill>
              </a:rPr>
              <a:t> Hồng, TP. HCM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4000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Database</a:t>
            </a:r>
            <a:br>
              <a:rPr lang="en-US" sz="1100" dirty="0">
                <a:solidFill>
                  <a:schemeClr val="tx2"/>
                </a:solidFill>
              </a:rPr>
            </a:br>
            <a:r>
              <a:rPr lang="en-US" sz="1100" dirty="0">
                <a:solidFill>
                  <a:schemeClr val="tx2"/>
                </a:solidFill>
              </a:rPr>
              <a:t>	Street: LTK, </a:t>
            </a:r>
            <a:r>
              <a:rPr lang="en-US" sz="1100" dirty="0" err="1">
                <a:solidFill>
                  <a:schemeClr val="tx2"/>
                </a:solidFill>
              </a:rPr>
              <a:t>Sư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Vạn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Hạnh</a:t>
            </a:r>
            <a:r>
              <a:rPr lang="en-US" sz="1100" dirty="0">
                <a:solidFill>
                  <a:schemeClr val="tx2"/>
                </a:solidFill>
              </a:rPr>
              <a:t>, 3/2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4000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Ward: Hòa Hưng, Con </a:t>
            </a:r>
            <a:r>
              <a:rPr lang="en-US" sz="1100" dirty="0" err="1">
                <a:solidFill>
                  <a:schemeClr val="tx2"/>
                </a:solidFill>
              </a:rPr>
              <a:t>cò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bé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bé</a:t>
            </a:r>
            <a:endParaRPr lang="en-US" sz="11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4000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Province: TP. </a:t>
            </a:r>
            <a:r>
              <a:rPr lang="en-US" sz="1100" dirty="0" err="1">
                <a:solidFill>
                  <a:schemeClr val="tx2"/>
                </a:solidFill>
              </a:rPr>
              <a:t>Hồ</a:t>
            </a:r>
            <a:r>
              <a:rPr lang="en-US" sz="1100" dirty="0">
                <a:solidFill>
                  <a:schemeClr val="tx2"/>
                </a:solidFill>
              </a:rPr>
              <a:t> Chí Minh, Hà Nội, </a:t>
            </a:r>
            <a:r>
              <a:rPr lang="en-US" sz="1100" dirty="0" err="1">
                <a:solidFill>
                  <a:schemeClr val="tx2"/>
                </a:solidFill>
              </a:rPr>
              <a:t>Vũng</a:t>
            </a:r>
            <a:r>
              <a:rPr lang="en-US" sz="1100" dirty="0">
                <a:solidFill>
                  <a:schemeClr val="tx2"/>
                </a:solidFill>
              </a:rPr>
              <a:t> Tàu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dirty="0">
                <a:solidFill>
                  <a:schemeClr val="tx2"/>
                </a:solidFill>
              </a:rPr>
              <a:t>Output: 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5143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</a:t>
            </a:r>
            <a:r>
              <a:rPr lang="en-US" sz="1100" b="1" dirty="0">
                <a:solidFill>
                  <a:schemeClr val="tx2"/>
                </a:solidFill>
              </a:rPr>
              <a:t>Street</a:t>
            </a:r>
            <a:r>
              <a:rPr lang="en-US" sz="1100" dirty="0">
                <a:solidFill>
                  <a:schemeClr val="tx2"/>
                </a:solidFill>
              </a:rPr>
              <a:t>: LTK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514350" algn="l"/>
              </a:tabLst>
            </a:pPr>
            <a:r>
              <a:rPr lang="en-US" sz="1100" b="1" dirty="0">
                <a:solidFill>
                  <a:schemeClr val="tx2"/>
                </a:solidFill>
              </a:rPr>
              <a:t>	Ward: </a:t>
            </a:r>
            <a:r>
              <a:rPr lang="en-US" sz="1100" dirty="0">
                <a:solidFill>
                  <a:schemeClr val="tx2"/>
                </a:solidFill>
              </a:rPr>
              <a:t>Null</a:t>
            </a: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514350" algn="l"/>
              </a:tabLst>
            </a:pPr>
            <a:r>
              <a:rPr lang="en-US" sz="1100" dirty="0">
                <a:solidFill>
                  <a:schemeClr val="tx2"/>
                </a:solidFill>
              </a:rPr>
              <a:t>	</a:t>
            </a:r>
            <a:r>
              <a:rPr lang="en-US" sz="1100" b="1" dirty="0">
                <a:solidFill>
                  <a:schemeClr val="tx2"/>
                </a:solidFill>
              </a:rPr>
              <a:t>Province</a:t>
            </a:r>
            <a:r>
              <a:rPr lang="en-US" sz="1100" dirty="0">
                <a:solidFill>
                  <a:schemeClr val="tx2"/>
                </a:solidFill>
              </a:rPr>
              <a:t>: TP. </a:t>
            </a:r>
            <a:r>
              <a:rPr lang="en-US" sz="1100" dirty="0" err="1">
                <a:solidFill>
                  <a:schemeClr val="tx2"/>
                </a:solidFill>
              </a:rPr>
              <a:t>Hồ</a:t>
            </a:r>
            <a:r>
              <a:rPr lang="en-US" sz="1100" dirty="0">
                <a:solidFill>
                  <a:schemeClr val="tx2"/>
                </a:solidFill>
              </a:rPr>
              <a:t> Chí Minh</a:t>
            </a:r>
            <a:endParaRPr lang="en-US" sz="11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19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5419B-BE74-4A45-1E01-E52D92AD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omputer script on a screen">
            <a:extLst>
              <a:ext uri="{FF2B5EF4-FFF2-40B4-BE49-F238E27FC236}">
                <a16:creationId xmlns:a16="http://schemas.microsoft.com/office/drawing/2014/main" id="{C809D415-B130-512A-1B3E-1DA5C1C9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08" r="53580" b="-1"/>
          <a:stretch>
            <a:fillRect/>
          </a:stretch>
        </p:blipFill>
        <p:spPr>
          <a:xfrm>
            <a:off x="20" y="10"/>
            <a:ext cx="335050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CC2C68-DE4B-4BAC-8926-95E227E3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181" y="40117"/>
            <a:ext cx="7335958" cy="6055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1. PROBLEM DEFINITION: Input vs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18F49-9BA5-F03E-D296-40EA71091FEA}"/>
              </a:ext>
            </a:extLst>
          </p:cNvPr>
          <p:cNvSpPr txBox="1"/>
          <p:nvPr/>
        </p:nvSpPr>
        <p:spPr>
          <a:xfrm>
            <a:off x="4222680" y="1232899"/>
            <a:ext cx="78289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the huge number of Street, for each Province, we choose random 10 Wards for street database</a:t>
            </a:r>
          </a:p>
          <a:p>
            <a:endParaRPr lang="en-US" dirty="0"/>
          </a:p>
          <a:p>
            <a:r>
              <a:rPr lang="en-US" dirty="0"/>
              <a:t>Total: 34 provinces, 34x10 wards, ~34x10x70 streets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1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1" y="1780660"/>
            <a:ext cx="3603458" cy="1219715"/>
          </a:xfrm>
        </p:spPr>
        <p:txBody>
          <a:bodyPr anchor="t">
            <a:normAutofit fontScale="90000"/>
          </a:bodyPr>
          <a:lstStyle/>
          <a:p>
            <a:r>
              <a:rPr lang="en-US" sz="2800">
                <a:solidFill>
                  <a:schemeClr val="bg1"/>
                </a:solidFill>
              </a:rPr>
              <a:t>1. PROBLEM DEFINITION: Input vs Output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35A9B02-6BD8-BC3E-61C7-AF84A33D2FD7}"/>
              </a:ext>
            </a:extLst>
          </p:cNvPr>
          <p:cNvSpPr txBox="1"/>
          <p:nvPr/>
        </p:nvSpPr>
        <p:spPr>
          <a:xfrm>
            <a:off x="4750277" y="121802"/>
            <a:ext cx="2144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1FAF55-57B6-1EAD-1B37-5D7039BF2870}"/>
              </a:ext>
            </a:extLst>
          </p:cNvPr>
          <p:cNvSpPr/>
          <p:nvPr/>
        </p:nvSpPr>
        <p:spPr>
          <a:xfrm>
            <a:off x="4671734" y="1990442"/>
            <a:ext cx="3765889" cy="184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33025-93FA-4C06-75A1-E73A08A36701}"/>
              </a:ext>
            </a:extLst>
          </p:cNvPr>
          <p:cNvSpPr txBox="1"/>
          <p:nvPr/>
        </p:nvSpPr>
        <p:spPr>
          <a:xfrm>
            <a:off x="8681386" y="1898109"/>
            <a:ext cx="213783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201543-21E8-6A9A-15FC-5D09B9EB5A6C}"/>
              </a:ext>
            </a:extLst>
          </p:cNvPr>
          <p:cNvSpPr/>
          <p:nvPr/>
        </p:nvSpPr>
        <p:spPr>
          <a:xfrm>
            <a:off x="4669816" y="2406407"/>
            <a:ext cx="3765889" cy="49871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C4F1D0-8FD7-8D53-09A7-E26C81798F34}"/>
              </a:ext>
            </a:extLst>
          </p:cNvPr>
          <p:cNvSpPr txBox="1"/>
          <p:nvPr/>
        </p:nvSpPr>
        <p:spPr>
          <a:xfrm>
            <a:off x="8681387" y="2471100"/>
            <a:ext cx="2137835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4082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1" y="1780660"/>
            <a:ext cx="3603458" cy="1219715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2. DEVELOPMENT &amp; TESTING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ED64BB4-CE78-734B-7C54-C340B162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404" y="2680701"/>
            <a:ext cx="6343650" cy="1295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ECBD07-AAFE-037D-FFFC-4931964421D3}"/>
              </a:ext>
            </a:extLst>
          </p:cNvPr>
          <p:cNvCxnSpPr/>
          <p:nvPr/>
        </p:nvCxnSpPr>
        <p:spPr>
          <a:xfrm>
            <a:off x="4810125" y="2371725"/>
            <a:ext cx="866775" cy="4667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014805-6DDB-3A19-7B07-5CF32410BE83}"/>
              </a:ext>
            </a:extLst>
          </p:cNvPr>
          <p:cNvSpPr txBox="1"/>
          <p:nvPr/>
        </p:nvSpPr>
        <p:spPr>
          <a:xfrm>
            <a:off x="3812808" y="1972215"/>
            <a:ext cx="5569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Development provided: 1000 samples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F0DA44-2053-3B9E-35E7-9F5BC0EA1EF7}"/>
              </a:ext>
            </a:extLst>
          </p:cNvPr>
          <p:cNvCxnSpPr>
            <a:cxnSpLocks/>
          </p:cNvCxnSpPr>
          <p:nvPr/>
        </p:nvCxnSpPr>
        <p:spPr>
          <a:xfrm flipV="1">
            <a:off x="4314825" y="3305175"/>
            <a:ext cx="1240293" cy="46028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C0E584-8E02-E26B-05CE-3177A5ECF911}"/>
              </a:ext>
            </a:extLst>
          </p:cNvPr>
          <p:cNvSpPr txBox="1"/>
          <p:nvPr/>
        </p:nvSpPr>
        <p:spPr>
          <a:xfrm>
            <a:off x="2070497" y="3683942"/>
            <a:ext cx="3484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B050"/>
                </a:solidFill>
              </a:rPr>
              <a:t>Testing provided (private)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3828DDC6-2452-95A8-C5E3-CDDA2344867F}"/>
              </a:ext>
            </a:extLst>
          </p:cNvPr>
          <p:cNvSpPr/>
          <p:nvPr/>
        </p:nvSpPr>
        <p:spPr>
          <a:xfrm>
            <a:off x="5555118" y="2990850"/>
            <a:ext cx="121782" cy="609600"/>
          </a:xfrm>
          <a:prstGeom prst="leftBrac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6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A1910-78F8-5FF4-EEE6-6C36C9A7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FF6F691-2912-6D30-614D-C70A3AFCA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479EC-E73B-01C6-87C9-ECF5997D1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7B42E-E397-9E68-DB76-B41341A7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1" y="1780660"/>
            <a:ext cx="3603458" cy="1219715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2. DEVELOPMENT &amp; TESTING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1024E-A26D-51A7-F588-B6BAE33F9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D753D99-1BC2-5B5D-1DED-F83FFB8DD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75BE4FD-814C-1E3F-2572-1F7ED4F2A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42817A9-52F2-E5E0-2227-0411ECE9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80" y="2185034"/>
            <a:ext cx="7137720" cy="30420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084971-0B76-7D22-7F4C-5EB40EB981B3}"/>
              </a:ext>
            </a:extLst>
          </p:cNvPr>
          <p:cNvSpPr txBox="1"/>
          <p:nvPr/>
        </p:nvSpPr>
        <p:spPr>
          <a:xfrm>
            <a:off x="4845469" y="1665231"/>
            <a:ext cx="156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 example</a:t>
            </a:r>
          </a:p>
        </p:txBody>
      </p:sp>
    </p:spTree>
    <p:extLst>
      <p:ext uri="{BB962C8B-B14F-4D97-AF65-F5344CB8AC3E}">
        <p14:creationId xmlns:p14="http://schemas.microsoft.com/office/powerpoint/2010/main" val="44786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0E61-1CC5-4C86-9611-01333558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1" y="1780660"/>
            <a:ext cx="3603458" cy="1219715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3. REQUIREMENTS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A38AC27-E0BB-F486-E40E-51B2D2C33E77}"/>
              </a:ext>
            </a:extLst>
          </p:cNvPr>
          <p:cNvSpPr txBox="1"/>
          <p:nvPr/>
        </p:nvSpPr>
        <p:spPr>
          <a:xfrm>
            <a:off x="4796476" y="446928"/>
            <a:ext cx="74295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General: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Submit all source code and related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Readme (how to run): The Readme file should be detailed and easily understood.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source code will be run on a unique machine without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Any copy or cheating will get 0 for the whole course.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For the exercise: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Maximum time for 1 request ≤0.1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Average time for 1 request: ≤0.01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Duration: 3 weeks (a part of private data will be released 2 days before the deadline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 01 free test.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 not apply a machine learning approach, just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Score= 80% private test + 20% public test</a:t>
            </a:r>
          </a:p>
        </p:txBody>
      </p:sp>
    </p:spTree>
    <p:extLst>
      <p:ext uri="{BB962C8B-B14F-4D97-AF65-F5344CB8AC3E}">
        <p14:creationId xmlns:p14="http://schemas.microsoft.com/office/powerpoint/2010/main" val="1797678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27BAFE-55ED-4515-8A84-26C17DC03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2" r="-1" b="-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761D8-92C7-4F35-AEF0-3AF91BE9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22174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640</Words>
  <Application>Microsoft Office PowerPoint</Application>
  <PresentationFormat>Widescreen</PresentationFormat>
  <Paragraphs>91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ADDRESS SEGMENTATION</vt:lpstr>
      <vt:lpstr>1. PROBLEM DEFINITION: Address representation</vt:lpstr>
      <vt:lpstr>1. PROBLEM DEFINITION: Human Reading and representation</vt:lpstr>
      <vt:lpstr>1. PROBLEM DEFINITION: Human &amp; Machine Interaction</vt:lpstr>
      <vt:lpstr>1. PROBLEM DEFINITION: Input vs Output</vt:lpstr>
      <vt:lpstr>1. PROBLEM DEFINITION: Input vs Output</vt:lpstr>
      <vt:lpstr>1. PROBLEM DEFINITION: Input vs Output</vt:lpstr>
      <vt:lpstr>1. PROBLEM DEFINITION: Input vs Output</vt:lpstr>
      <vt:lpstr>2. DEVELOPMENT &amp; TESTING</vt:lpstr>
      <vt:lpstr>2. DEVELOPMENT &amp; TESTING</vt:lpstr>
      <vt:lpstr>3. REQUIREMENTS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FOUNDATION FOR COMPUTER SCIENCE</dc:title>
  <dc:creator>aa ccc</dc:creator>
  <cp:lastModifiedBy>TRẦN TUẤN ANH</cp:lastModifiedBy>
  <cp:revision>84</cp:revision>
  <dcterms:created xsi:type="dcterms:W3CDTF">2021-11-12T08:35:49Z</dcterms:created>
  <dcterms:modified xsi:type="dcterms:W3CDTF">2026-03-27T05:45:35Z</dcterms:modified>
</cp:coreProperties>
</file>